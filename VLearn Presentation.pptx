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719" autoAdjust="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96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696373-0156-4227-A2E9-95302F31678A}" type="datetimeFigureOut">
              <a:rPr lang="en-US" smtClean="0"/>
              <a:t>Fri 7/31/2026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7AEE53-64DA-410D-9624-B07A7174C2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6415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7AEE53-64DA-410D-9624-B07A7174C20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56189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Fri 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Fri 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Fri 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Fri 7/31/2026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Fri 7/31/2026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Fri 7/31/2026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Fri 7/31/2026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Fri 7/31/2026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Fri 7/31/2026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Fri 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Fri 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Fri 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5" Type="http://schemas.openxmlformats.org/officeDocument/2006/relationships/image" Target="../media/image2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Relationship Id="rId14" Type="http://schemas.openxmlformats.org/officeDocument/2006/relationships/image" Target="../media/image2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12" Type="http://schemas.openxmlformats.org/officeDocument/2006/relationships/image" Target="../media/image3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11" Type="http://schemas.openxmlformats.org/officeDocument/2006/relationships/image" Target="../media/image32.png"/><Relationship Id="rId5" Type="http://schemas.openxmlformats.org/officeDocument/2006/relationships/image" Target="../media/image26.png"/><Relationship Id="rId10" Type="http://schemas.openxmlformats.org/officeDocument/2006/relationships/image" Target="../media/image31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13" Type="http://schemas.openxmlformats.org/officeDocument/2006/relationships/image" Target="../media/image44.pn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12" Type="http://schemas.openxmlformats.org/officeDocument/2006/relationships/image" Target="../media/image4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11" Type="http://schemas.openxmlformats.org/officeDocument/2006/relationships/image" Target="../media/image42.png"/><Relationship Id="rId5" Type="http://schemas.openxmlformats.org/officeDocument/2006/relationships/image" Target="../media/image36.png"/><Relationship Id="rId10" Type="http://schemas.openxmlformats.org/officeDocument/2006/relationships/image" Target="../media/image41.png"/><Relationship Id="rId4" Type="http://schemas.openxmlformats.org/officeDocument/2006/relationships/image" Target="../media/image35.png"/><Relationship Id="rId9" Type="http://schemas.openxmlformats.org/officeDocument/2006/relationships/image" Target="../media/image40.png"/><Relationship Id="rId14" Type="http://schemas.openxmlformats.org/officeDocument/2006/relationships/image" Target="../media/image4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13" Type="http://schemas.openxmlformats.org/officeDocument/2006/relationships/image" Target="../media/image56.png"/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12" Type="http://schemas.openxmlformats.org/officeDocument/2006/relationships/image" Target="../media/image55.png"/><Relationship Id="rId2" Type="http://schemas.openxmlformats.org/officeDocument/2006/relationships/image" Target="../media/image1.png"/><Relationship Id="rId16" Type="http://schemas.openxmlformats.org/officeDocument/2006/relationships/image" Target="../media/image5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9.png"/><Relationship Id="rId11" Type="http://schemas.openxmlformats.org/officeDocument/2006/relationships/image" Target="../media/image54.png"/><Relationship Id="rId5" Type="http://schemas.openxmlformats.org/officeDocument/2006/relationships/image" Target="../media/image48.png"/><Relationship Id="rId15" Type="http://schemas.openxmlformats.org/officeDocument/2006/relationships/image" Target="../media/image58.png"/><Relationship Id="rId10" Type="http://schemas.openxmlformats.org/officeDocument/2006/relationships/image" Target="../media/image53.png"/><Relationship Id="rId4" Type="http://schemas.openxmlformats.org/officeDocument/2006/relationships/image" Target="../media/image47.png"/><Relationship Id="rId9" Type="http://schemas.openxmlformats.org/officeDocument/2006/relationships/image" Target="../media/image52.png"/><Relationship Id="rId14" Type="http://schemas.openxmlformats.org/officeDocument/2006/relationships/image" Target="../media/image5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3" Type="http://schemas.openxmlformats.org/officeDocument/2006/relationships/image" Target="../media/image60.png"/><Relationship Id="rId7" Type="http://schemas.openxmlformats.org/officeDocument/2006/relationships/image" Target="../media/image6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image" Target="../media/image61.png"/><Relationship Id="rId9" Type="http://schemas.openxmlformats.org/officeDocument/2006/relationships/image" Target="../media/image6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3" Type="http://schemas.openxmlformats.org/officeDocument/2006/relationships/image" Target="../media/image67.png"/><Relationship Id="rId7" Type="http://schemas.openxmlformats.org/officeDocument/2006/relationships/image" Target="../media/image7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0.png"/><Relationship Id="rId5" Type="http://schemas.openxmlformats.org/officeDocument/2006/relationships/image" Target="../media/image69.png"/><Relationship Id="rId10" Type="http://schemas.openxmlformats.org/officeDocument/2006/relationships/image" Target="../media/image74.png"/><Relationship Id="rId4" Type="http://schemas.openxmlformats.org/officeDocument/2006/relationships/image" Target="../media/image68.png"/><Relationship Id="rId9" Type="http://schemas.openxmlformats.org/officeDocument/2006/relationships/image" Target="../media/image7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3620" y="1143000"/>
            <a:ext cx="4834979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33400" y="1934616"/>
            <a:ext cx="590922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F3F4F6"/>
                </a:solidFill>
                <a:latin typeface="Plus Jakarta Sans"/>
              </a:rPr>
              <a:t>DEMO DAY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2287041"/>
            <a:ext cx="6204681" cy="12266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830"/>
              </a:lnSpc>
            </a:pPr>
            <a:r>
              <a:rPr sz="4200" b="0" i="0" u="none" dirty="0" err="1">
                <a:solidFill>
                  <a:srgbClr val="FFFFFF"/>
                </a:solidFill>
                <a:latin typeface="Plus Jakarta Sans ExtraBold"/>
              </a:rPr>
              <a:t>VLearn</a:t>
            </a:r>
            <a:r>
              <a:rPr sz="4200" b="0" i="0" u="none" dirty="0">
                <a:solidFill>
                  <a:srgbClr val="FFFFFF"/>
                </a:solidFill>
                <a:latin typeface="Plus Jakarta Sans ExtraBold"/>
              </a:rPr>
              <a:t> — Adaptive Learning Loop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" y="3704183"/>
            <a:ext cx="590922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 dirty="0" err="1">
                <a:solidFill>
                  <a:srgbClr val="9CA3AF"/>
                </a:solidFill>
                <a:latin typeface="Plus Jakarta Sans"/>
              </a:rPr>
              <a:t>Nền</a:t>
            </a:r>
            <a:r>
              <a:rPr sz="1500" b="0" i="0" u="none" dirty="0">
                <a:solidFill>
                  <a:srgbClr val="9CA3AF"/>
                </a:solidFill>
                <a:latin typeface="Plus Jakarta Sans"/>
              </a:rPr>
              <a:t> </a:t>
            </a:r>
            <a:r>
              <a:rPr sz="1500" b="0" i="0" u="none" dirty="0" err="1">
                <a:solidFill>
                  <a:srgbClr val="9CA3AF"/>
                </a:solidFill>
                <a:latin typeface="Plus Jakarta Sans"/>
              </a:rPr>
              <a:t>tảng</a:t>
            </a:r>
            <a:r>
              <a:rPr sz="1500" b="0" i="0" u="none" dirty="0">
                <a:solidFill>
                  <a:srgbClr val="9CA3AF"/>
                </a:solidFill>
                <a:latin typeface="Plus Jakarta Sans"/>
              </a:rPr>
              <a:t> </a:t>
            </a:r>
            <a:r>
              <a:rPr sz="1500" b="0" i="0" u="none" dirty="0" err="1">
                <a:solidFill>
                  <a:srgbClr val="9CA3AF"/>
                </a:solidFill>
                <a:latin typeface="Plus Jakarta Sans"/>
              </a:rPr>
              <a:t>Học</a:t>
            </a:r>
            <a:r>
              <a:rPr sz="1500" b="0" i="0" u="none" dirty="0">
                <a:solidFill>
                  <a:srgbClr val="9CA3AF"/>
                </a:solidFill>
                <a:latin typeface="Plus Jakarta Sans"/>
              </a:rPr>
              <a:t> Thích </a:t>
            </a:r>
            <a:r>
              <a:rPr sz="1500" b="0" i="0" u="none" dirty="0" err="1">
                <a:solidFill>
                  <a:srgbClr val="9CA3AF"/>
                </a:solidFill>
                <a:latin typeface="Plus Jakarta Sans"/>
              </a:rPr>
              <a:t>ứng</a:t>
            </a:r>
            <a:r>
              <a:rPr lang="en-US" sz="1500" dirty="0">
                <a:solidFill>
                  <a:srgbClr val="9CA3AF"/>
                </a:solidFill>
                <a:latin typeface="Plus Jakarta Sans"/>
              </a:rPr>
              <a:t> </a:t>
            </a:r>
            <a:r>
              <a:rPr lang="en-US" sz="1500" dirty="0" err="1">
                <a:solidFill>
                  <a:srgbClr val="9CA3AF"/>
                </a:solidFill>
                <a:latin typeface="Plus Jakarta Sans"/>
              </a:rPr>
              <a:t>phù</a:t>
            </a:r>
            <a:r>
              <a:rPr lang="en-US" sz="1500" dirty="0">
                <a:solidFill>
                  <a:srgbClr val="9CA3AF"/>
                </a:solidFill>
                <a:latin typeface="Plus Jakarta Sans"/>
              </a:rPr>
              <a:t> </a:t>
            </a:r>
            <a:r>
              <a:rPr lang="en-US" sz="1500" dirty="0" err="1">
                <a:solidFill>
                  <a:srgbClr val="9CA3AF"/>
                </a:solidFill>
                <a:latin typeface="Plus Jakarta Sans"/>
              </a:rPr>
              <a:t>hợp</a:t>
            </a:r>
            <a:r>
              <a:rPr sz="1500" b="0" i="0" u="none" dirty="0">
                <a:solidFill>
                  <a:srgbClr val="9CA3AF"/>
                </a:solidFill>
                <a:latin typeface="Plus Jakarta Sans"/>
              </a:rPr>
              <a:t> </a:t>
            </a:r>
            <a:r>
              <a:rPr sz="1500" b="0" i="0" u="none" dirty="0" err="1">
                <a:solidFill>
                  <a:srgbClr val="9CA3AF"/>
                </a:solidFill>
                <a:latin typeface="Plus Jakarta Sans"/>
              </a:rPr>
              <a:t>kết</a:t>
            </a:r>
            <a:r>
              <a:rPr sz="1500" b="0" i="0" u="none" dirty="0">
                <a:solidFill>
                  <a:srgbClr val="9CA3AF"/>
                </a:solidFill>
                <a:latin typeface="Plus Jakarta Sans"/>
              </a:rPr>
              <a:t> </a:t>
            </a:r>
            <a:r>
              <a:rPr sz="1500" b="0" i="0" u="none" dirty="0" err="1">
                <a:solidFill>
                  <a:srgbClr val="9CA3AF"/>
                </a:solidFill>
                <a:latin typeface="Plus Jakarta Sans"/>
              </a:rPr>
              <a:t>hợp</a:t>
            </a:r>
            <a:r>
              <a:rPr sz="1500" b="0" i="0" u="none" dirty="0">
                <a:solidFill>
                  <a:srgbClr val="9CA3AF"/>
                </a:solidFill>
                <a:latin typeface="Plus Jakarta Sans"/>
              </a:rPr>
              <a:t> </a:t>
            </a:r>
            <a:r>
              <a:rPr sz="1500" b="0" i="0" u="none" dirty="0" err="1">
                <a:solidFill>
                  <a:srgbClr val="9CA3AF"/>
                </a:solidFill>
                <a:latin typeface="Plus Jakarta Sans"/>
              </a:rPr>
              <a:t>giữa</a:t>
            </a:r>
            <a:r>
              <a:rPr sz="1500" b="0" i="0" u="none" dirty="0">
                <a:solidFill>
                  <a:srgbClr val="9CA3AF"/>
                </a:solidFill>
                <a:latin typeface="Plus Jakarta Sans"/>
              </a:rPr>
              <a:t> </a:t>
            </a:r>
            <a:r>
              <a:rPr sz="1500" b="1" i="0" u="none" dirty="0" err="1">
                <a:solidFill>
                  <a:srgbClr val="F3F4F6"/>
                </a:solidFill>
                <a:latin typeface="Plus Jakarta Sans"/>
              </a:rPr>
              <a:t>Mô</a:t>
            </a:r>
            <a:r>
              <a:rPr sz="1500" b="1" i="0" u="none" dirty="0">
                <a:solidFill>
                  <a:srgbClr val="F3F4F6"/>
                </a:solidFill>
                <a:latin typeface="Plus Jakarta Sans"/>
              </a:rPr>
              <a:t> </a:t>
            </a:r>
            <a:r>
              <a:rPr sz="1500" b="1" i="0" u="none" dirty="0" err="1">
                <a:solidFill>
                  <a:srgbClr val="F3F4F6"/>
                </a:solidFill>
                <a:latin typeface="Plus Jakarta Sans"/>
              </a:rPr>
              <a:t>hình</a:t>
            </a:r>
            <a:r>
              <a:rPr sz="1500" b="1" i="0" u="none" dirty="0">
                <a:solidFill>
                  <a:srgbClr val="F3F4F6"/>
                </a:solidFill>
                <a:latin typeface="Plus Jakarta Sans"/>
              </a:rPr>
              <a:t> </a:t>
            </a:r>
            <a:r>
              <a:rPr sz="1500" b="1" i="0" u="none" dirty="0" err="1">
                <a:solidFill>
                  <a:srgbClr val="F3F4F6"/>
                </a:solidFill>
                <a:latin typeface="Plus Jakarta Sans"/>
              </a:rPr>
              <a:t>toán</a:t>
            </a:r>
            <a:r>
              <a:rPr sz="1500" b="1" i="0" u="none" dirty="0">
                <a:solidFill>
                  <a:srgbClr val="F3F4F6"/>
                </a:solidFill>
                <a:latin typeface="Plus Jakarta Sans"/>
              </a:rPr>
              <a:t> Elo</a:t>
            </a:r>
            <a:r>
              <a:rPr sz="1500" b="0" i="0" u="none" dirty="0">
                <a:solidFill>
                  <a:srgbClr val="9CA3AF"/>
                </a:solidFill>
                <a:latin typeface="Plus Jakarta Sans"/>
              </a:rPr>
              <a:t> &amp; </a:t>
            </a:r>
            <a:r>
              <a:rPr sz="1500" b="1" i="0" u="none" dirty="0" err="1">
                <a:solidFill>
                  <a:srgbClr val="F3F4F6"/>
                </a:solidFill>
                <a:latin typeface="Plus Jakarta Sans"/>
              </a:rPr>
              <a:t>Trí</a:t>
            </a:r>
            <a:r>
              <a:rPr sz="1500" b="1" i="0" u="none" dirty="0">
                <a:solidFill>
                  <a:srgbClr val="F3F4F6"/>
                </a:solidFill>
                <a:latin typeface="Plus Jakarta Sans"/>
              </a:rPr>
              <a:t> </a:t>
            </a:r>
            <a:r>
              <a:rPr sz="1500" b="1" i="0" u="none" dirty="0" err="1">
                <a:solidFill>
                  <a:srgbClr val="F3F4F6"/>
                </a:solidFill>
                <a:latin typeface="Plus Jakarta Sans"/>
              </a:rPr>
              <a:t>tuệ</a:t>
            </a:r>
            <a:r>
              <a:rPr sz="1500" b="1" i="0" u="none" dirty="0">
                <a:solidFill>
                  <a:srgbClr val="F3F4F6"/>
                </a:solidFill>
                <a:latin typeface="Plus Jakarta Sans"/>
              </a:rPr>
              <a:t> </a:t>
            </a:r>
            <a:r>
              <a:rPr sz="1500" b="1" i="0" u="none" dirty="0" err="1">
                <a:solidFill>
                  <a:srgbClr val="F3F4F6"/>
                </a:solidFill>
                <a:latin typeface="Plus Jakarta Sans"/>
              </a:rPr>
              <a:t>nhân</a:t>
            </a:r>
            <a:r>
              <a:rPr sz="1500" b="1" i="0" u="none" dirty="0">
                <a:solidFill>
                  <a:srgbClr val="F3F4F6"/>
                </a:solidFill>
                <a:latin typeface="Plus Jakarta Sans"/>
              </a:rPr>
              <a:t> </a:t>
            </a:r>
            <a:r>
              <a:rPr sz="1500" b="1" i="0" u="none" dirty="0" err="1">
                <a:solidFill>
                  <a:srgbClr val="F3F4F6"/>
                </a:solidFill>
                <a:latin typeface="Plus Jakarta Sans"/>
              </a:rPr>
              <a:t>tạo</a:t>
            </a:r>
            <a:r>
              <a:rPr sz="1500" b="1" i="0" u="none" dirty="0">
                <a:solidFill>
                  <a:srgbClr val="F3F4F6"/>
                </a:solidFill>
                <a:latin typeface="Plus Jakarta Sans"/>
              </a:rPr>
              <a:t> LLM (</a:t>
            </a:r>
            <a:r>
              <a:rPr sz="1500" b="1" i="0" u="none" dirty="0" err="1">
                <a:solidFill>
                  <a:srgbClr val="F3F4F6"/>
                </a:solidFill>
                <a:latin typeface="Plus Jakarta Sans"/>
              </a:rPr>
              <a:t>LangGraph</a:t>
            </a:r>
            <a:r>
              <a:rPr sz="1500" b="1" i="0" u="none" dirty="0">
                <a:solidFill>
                  <a:srgbClr val="F3F4F6"/>
                </a:solidFill>
                <a:latin typeface="Plus Jakarta Sans"/>
              </a:rPr>
              <a:t> RAG)</a:t>
            </a:r>
            <a:r>
              <a:rPr sz="1500" b="0" i="0" u="none" dirty="0">
                <a:solidFill>
                  <a:srgbClr val="9CA3AF"/>
                </a:solidFill>
                <a:latin typeface="Plus Jakarta Sans"/>
              </a:rPr>
              <a:t>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33145" y="1152525"/>
            <a:ext cx="4815929" cy="45529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125" y="4580483"/>
            <a:ext cx="1552575" cy="3429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27824" y="4580483"/>
            <a:ext cx="1543050" cy="3429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47070" y="4580483"/>
            <a:ext cx="1790700" cy="3429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5325" y="4685258"/>
            <a:ext cx="104775" cy="1333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362200" y="4685258"/>
            <a:ext cx="152400" cy="1333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019550" y="4685258"/>
            <a:ext cx="114300" cy="1333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921180" y="6486525"/>
            <a:ext cx="1737419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4B5563"/>
                </a:solidFill>
                <a:latin typeface="Plus Jakarta Sans SemiBold"/>
              </a:rPr>
              <a:t>VLEARN — DEMO DAY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2281237"/>
            <a:ext cx="3555950" cy="29337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7950" y="2281237"/>
            <a:ext cx="3555950" cy="29337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02500" y="2281237"/>
            <a:ext cx="3556099" cy="29337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500062"/>
            <a:ext cx="317450" cy="3238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6539" y="542925"/>
            <a:ext cx="1154459" cy="238125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42925" y="3729037"/>
            <a:ext cx="3536899" cy="381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9625" y="2595562"/>
            <a:ext cx="1504950" cy="2000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9625" y="2947987"/>
            <a:ext cx="495300" cy="4953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09625" y="3595687"/>
            <a:ext cx="3153675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9FAFB"/>
                </a:solidFill>
                <a:latin typeface="Plus Jakarta Sans"/>
              </a:rPr>
              <a:t>1. Hoàn toàn KHÔNG có Quiz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625" y="3986212"/>
            <a:ext cx="30035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9CA3AF"/>
                </a:solidFill>
                <a:latin typeface="Plus Jakarta Sans"/>
              </a:rPr>
              <a:t>Phiên bản trước của VLearn không có hệ thống Quiz kiểm tra. Người học chỉ đọc slide thụ động mà không có công cụ đánh giá mức độ hiểu bài.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27475" y="3729037"/>
            <a:ext cx="3536899" cy="381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94175" y="2595562"/>
            <a:ext cx="1504950" cy="20002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94175" y="2947987"/>
            <a:ext cx="495300" cy="4953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594175" y="3595687"/>
            <a:ext cx="3153675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9FAFB"/>
                </a:solidFill>
                <a:latin typeface="Plus Jakarta Sans"/>
              </a:rPr>
              <a:t>2. AI Tutor bị bó hẹp 1 Slide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4175" y="3986212"/>
            <a:ext cx="30035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9CA3AF"/>
                </a:solidFill>
                <a:latin typeface="Plus Jakarta Sans"/>
              </a:rPr>
              <a:t>AI Tutor bản cũ chỉ tra cứu duy nhất trong phạm vi 1 slide hiện tại, gây đứt gãy logic và không thể giải thích các kiến thức liên kết xuyên suốt bài học.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2024" y="3729037"/>
            <a:ext cx="3537051" cy="381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78725" y="2595562"/>
            <a:ext cx="1371600" cy="20002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378725" y="2947987"/>
            <a:ext cx="495300" cy="4953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378725" y="3595687"/>
            <a:ext cx="3153831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9FAFB"/>
                </a:solidFill>
                <a:latin typeface="Plus Jakarta Sans"/>
              </a:rPr>
              <a:t>3. Mất phương hướng Mastery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8725" y="3986212"/>
            <a:ext cx="3003649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9CA3AF"/>
                </a:solidFill>
                <a:latin typeface="Plus Jakarta Sans"/>
              </a:rPr>
              <a:t>Không có chỉ số đo lường thành thạo realtime, khiến người học không biết năng lực thực sự của mình đang tăng hay giảm sau mỗi buổi học.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38212" y="3090862"/>
            <a:ext cx="238125" cy="20955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708475" y="3090862"/>
            <a:ext cx="266700" cy="20955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965150" y="457200"/>
            <a:ext cx="11226849" cy="40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F9FAFB"/>
                </a:solidFill>
                <a:latin typeface="Plus Jakarta Sans"/>
              </a:rPr>
              <a:t>Hạn chế phiên bản cũ &amp; Nỗi đau người học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21180" y="6486525"/>
            <a:ext cx="1737419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4B5563"/>
                </a:solidFill>
                <a:latin typeface="Plus Jakarta Sans SemiBold"/>
              </a:rPr>
              <a:t>VLEARN — DEMO DAY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2538114"/>
            <a:ext cx="2638425" cy="241994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2325" y="2538114"/>
            <a:ext cx="2638425" cy="241994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0" y="2538114"/>
            <a:ext cx="2638425" cy="241994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20175" y="2538114"/>
            <a:ext cx="2638425" cy="241994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" y="500062"/>
            <a:ext cx="317450" cy="3238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03131" y="542925"/>
            <a:ext cx="1213544" cy="2381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1525" y="2814339"/>
            <a:ext cx="723900" cy="23812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1525" y="3185814"/>
            <a:ext cx="2270283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F3F4F6"/>
                </a:solidFill>
                <a:latin typeface="Plus Jakarta Sans"/>
              </a:rPr>
              <a:t>Measure (Đo lường)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1525" y="3547764"/>
            <a:ext cx="2162175" cy="8262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27"/>
              </a:lnSpc>
            </a:pPr>
            <a:r>
              <a:rPr sz="1050" b="0" i="0" u="none">
                <a:solidFill>
                  <a:srgbClr val="9CA3AF"/>
                </a:solidFill>
                <a:latin typeface="Plus Jakarta Sans"/>
              </a:rPr>
              <a:t>Khởi tạo hồ sơ năng lực học viên từ 0%, tự động đánh giá từng khái niệm (concept) qua các tiêu chí chuẩn xác.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00450" y="2814339"/>
            <a:ext cx="723900" cy="23812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600450" y="3185814"/>
            <a:ext cx="2270283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F3F4F6"/>
                </a:solidFill>
                <a:latin typeface="Plus Jakarta Sans"/>
              </a:rPr>
              <a:t>Personalize (Cá nhân hóa)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00450" y="3776364"/>
            <a:ext cx="2162175" cy="8262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27"/>
              </a:lnSpc>
            </a:pPr>
            <a:r>
              <a:rPr sz="1050" b="0" i="0" u="none">
                <a:solidFill>
                  <a:srgbClr val="9CA3AF"/>
                </a:solidFill>
                <a:latin typeface="Plus Jakarta Sans"/>
              </a:rPr>
              <a:t>Tự động giao bài tập Quiz neo chính xác vào vùng phát triển tối ưu (xác suất trả lời đúng </a:t>
            </a:r>
            <a:r>
              <a:rPr sz="1050" b="1" i="0" u="none">
                <a:solidFill>
                  <a:srgbClr val="F3F4F6"/>
                </a:solidFill>
                <a:latin typeface="Plus Jakarta Sans"/>
              </a:rPr>
              <a:t>P ≈ 50%</a:t>
            </a:r>
            <a:r>
              <a:rPr sz="1050" b="0" i="0" u="none">
                <a:solidFill>
                  <a:srgbClr val="9CA3AF"/>
                </a:solidFill>
                <a:latin typeface="Plus Jakarta Sans"/>
              </a:rPr>
              <a:t> theo toán Elo).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29375" y="2814339"/>
            <a:ext cx="723900" cy="23812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429375" y="3185814"/>
            <a:ext cx="2270283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F3F4F6"/>
                </a:solidFill>
                <a:latin typeface="Plus Jakarta Sans"/>
              </a:rPr>
              <a:t>Remediate (Định hướng)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9375" y="3547764"/>
            <a:ext cx="2162175" cy="8262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27"/>
              </a:lnSpc>
            </a:pPr>
            <a:r>
              <a:rPr sz="1050" b="0" i="0" u="none">
                <a:solidFill>
                  <a:srgbClr val="9CA3AF"/>
                </a:solidFill>
                <a:latin typeface="Plus Jakarta Sans"/>
              </a:rPr>
              <a:t>Ngay khi làm sai, hệ thống đề xuất chính xác Slide chứa mảng kiến thức còn hổng để học viên ôn tập lại.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58300" y="2814339"/>
            <a:ext cx="723900" cy="23812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258300" y="3185814"/>
            <a:ext cx="2270283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F3F4F6"/>
                </a:solidFill>
                <a:latin typeface="Plus Jakarta Sans"/>
              </a:rPr>
              <a:t>Outcome (Chứng minh)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58300" y="3547764"/>
            <a:ext cx="2162175" cy="619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27"/>
              </a:lnSpc>
            </a:pPr>
            <a:r>
              <a:rPr sz="1050" b="0" i="0" u="none">
                <a:solidFill>
                  <a:srgbClr val="9CA3AF"/>
                </a:solidFill>
                <a:latin typeface="Plus Jakarta Sans"/>
              </a:rPr>
              <a:t>Hiển thị trực quan sự tăng trưởng điểm số thành thạo sau mỗi vòng lặp hoàn thành.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258300" y="4377035"/>
            <a:ext cx="1733550" cy="3048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382125" y="4472285"/>
            <a:ext cx="152400" cy="13335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65150" y="457200"/>
            <a:ext cx="11226849" cy="40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F9FAFB"/>
                </a:solidFill>
                <a:latin typeface="Plus Jakarta Sans"/>
              </a:rPr>
              <a:t>VLearn — Vòng lặp Học thích ứng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21180" y="6486525"/>
            <a:ext cx="1737419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4B5563"/>
                </a:solidFill>
                <a:latin typeface="Plus Jakarta Sans SemiBold"/>
              </a:rPr>
              <a:t>VLEARN — DEMO DAY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2188368"/>
            <a:ext cx="5410200" cy="311943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400" y="2188368"/>
            <a:ext cx="5410200" cy="311943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500062"/>
            <a:ext cx="355550" cy="3238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84056" y="542925"/>
            <a:ext cx="1184969" cy="2381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12840" y="2578893"/>
            <a:ext cx="1716434" cy="381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14425" y="3226593"/>
            <a:ext cx="4514850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F3F4F6"/>
                </a:solidFill>
                <a:latin typeface="Plus Jakarta Sans"/>
              </a:rPr>
              <a:t>Mở rộng Ngữ cảnh đa Slide:</a:t>
            </a:r>
            <a:r>
              <a:rPr sz="1125" b="0" i="0" u="none">
                <a:solidFill>
                  <a:srgbClr val="D1D5DB"/>
                </a:solidFill>
                <a:latin typeface="Plus Jakarta Sans"/>
              </a:rPr>
              <a:t> Khắc phục hạn chế 1 slide của bản cũ — AI tự động tổng hợp Slide yêu cầu + 2 slide lân cận &amp; toàn bài học.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4425" y="4002881"/>
            <a:ext cx="451485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F3F4F6"/>
                </a:solidFill>
                <a:latin typeface="Plus Jakarta Sans"/>
              </a:rPr>
              <a:t>Suy luận trọn vẹn logic:</a:t>
            </a:r>
            <a:r>
              <a:rPr sz="1125" b="0" i="0" u="none">
                <a:solidFill>
                  <a:srgbClr val="D1D5DB"/>
                </a:solidFill>
                <a:latin typeface="Plus Jakarta Sans"/>
              </a:rPr>
              <a:t> Đưa ra câu trả lời liền mạch, hiểu rõ mạch kiến thức bài giảng mà không bị đứt đoạn.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4425" y="4564856"/>
            <a:ext cx="451485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F3F4F6"/>
                </a:solidFill>
                <a:latin typeface="Plus Jakarta Sans"/>
              </a:rPr>
              <a:t>Chống suy diễn (Zero Hallucination):</a:t>
            </a:r>
            <a:r>
              <a:rPr sz="1125" b="0" i="0" u="none">
                <a:solidFill>
                  <a:srgbClr val="D1D5DB"/>
                </a:solidFill>
                <a:latin typeface="Plus Jakarta Sans"/>
              </a:rPr>
              <a:t> Ép buộc RAG chỉ phản hồi dựa trên tri thức bài học đã trích xuất thực tế.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22581" y="2578893"/>
            <a:ext cx="2121693" cy="381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829425" y="3226593"/>
            <a:ext cx="451485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F3F4F6"/>
                </a:solidFill>
                <a:latin typeface="Plus Jakarta Sans"/>
              </a:rPr>
              <a:t>Bổ sung hệ thống Quiz Thích ứng:</a:t>
            </a:r>
            <a:r>
              <a:rPr sz="1125" b="0" i="0" u="none">
                <a:solidFill>
                  <a:srgbClr val="D1D5DB"/>
                </a:solidFill>
                <a:latin typeface="Plus Jakarta Sans"/>
              </a:rPr>
              <a:t> Xóa bỏ điểm yếu "không có quiz" ở bản trước bằng luồng làm bài tập cá nhân hóa hoàn chỉnh.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29425" y="3788568"/>
            <a:ext cx="451485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F3F4F6"/>
                </a:solidFill>
                <a:latin typeface="Plus Jakarta Sans"/>
              </a:rPr>
              <a:t>Thuật toán Elo siêu tốc (&lt; 50ms):</a:t>
            </a:r>
            <a:r>
              <a:rPr sz="1125" b="0" i="0" u="none">
                <a:solidFill>
                  <a:srgbClr val="D1D5DB"/>
                </a:solidFill>
                <a:latin typeface="Plus Jakarta Sans"/>
              </a:rPr>
              <a:t> Cập nhật chỉ số Elo và điểm thành thạo tức thì ngay sau mỗi câu trả lời.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29425" y="4350543"/>
            <a:ext cx="451485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F3F4F6"/>
                </a:solidFill>
                <a:latin typeface="Plus Jakarta Sans"/>
              </a:rPr>
              <a:t>Giao diện EdTech tối ưu:</a:t>
            </a:r>
            <a:r>
              <a:rPr sz="1125" b="0" i="0" u="none">
                <a:solidFill>
                  <a:srgbClr val="D1D5DB"/>
                </a:solidFill>
                <a:latin typeface="Plus Jakarta Sans"/>
              </a:rPr>
              <a:t> Progress bar trực quan, chọn độ khó Segmented Control, Resizable Columns linh hoạt.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7725" y="2540793"/>
            <a:ext cx="350936" cy="4572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351061" y="2502693"/>
            <a:ext cx="2689867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9FAFB"/>
                </a:solidFill>
                <a:latin typeface="Plus Jakarta Sans"/>
              </a:rPr>
              <a:t>🤖 VLearn Tutor (LangGraph RAG)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17615" y="2712243"/>
            <a:ext cx="133350" cy="1143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7725" y="4021931"/>
            <a:ext cx="114300" cy="14287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62725" y="2540793"/>
            <a:ext cx="376683" cy="4572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091808" y="2502693"/>
            <a:ext cx="2237154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9FAFB"/>
                </a:solidFill>
                <a:latin typeface="Plus Jakarta Sans"/>
              </a:rPr>
              <a:t>🎯 Vòng lặp Học thích ứng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327356" y="2712243"/>
            <a:ext cx="133350" cy="1143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62725" y="3807618"/>
            <a:ext cx="114300" cy="142875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89843" y="2664618"/>
            <a:ext cx="266700" cy="20955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03250" y="457200"/>
            <a:ext cx="11188117" cy="40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F9FAFB"/>
                </a:solidFill>
                <a:latin typeface="Plus Jakarta Sans"/>
              </a:rPr>
              <a:t>Tính năng nổi bật &amp; Đột phá mới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21180" y="6486525"/>
            <a:ext cx="1737419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4B5563"/>
                </a:solidFill>
                <a:latin typeface="Plus Jakarta Sans SemiBold"/>
              </a:rPr>
              <a:t>VLEARN — DEMO DAY 2026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7725" y="3245643"/>
            <a:ext cx="114300" cy="142875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7725" y="4583906"/>
            <a:ext cx="114300" cy="142875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62725" y="3245643"/>
            <a:ext cx="114300" cy="142875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62725" y="4369593"/>
            <a:ext cx="114300" cy="142875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660505" y="2664618"/>
            <a:ext cx="180975" cy="2095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8380" y="1160264"/>
            <a:ext cx="6675090" cy="77718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2209" y="2537519"/>
            <a:ext cx="7787580" cy="77718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4700" y="5602485"/>
            <a:ext cx="5562600" cy="7334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9719" y="3914775"/>
            <a:ext cx="4891980" cy="108763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10300" y="3914775"/>
            <a:ext cx="4891980" cy="108763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3400" y="500062"/>
            <a:ext cx="403175" cy="3238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92625" y="542925"/>
            <a:ext cx="1038225" cy="23812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334000" y="2127944"/>
            <a:ext cx="1524000" cy="219075"/>
          </a:xfrm>
          <a:prstGeom prst="rect">
            <a:avLst/>
          </a:prstGeom>
          <a:noFill/>
        </p:spPr>
        <p:txBody>
          <a:bodyPr wrap="square" lIns="13335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B7280"/>
                </a:solidFill>
                <a:latin typeface="Plus Jakarta Sans"/>
              </a:rPr>
              <a:t>(HTTP / REST API)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48151" y="1322189"/>
            <a:ext cx="1295400" cy="209550"/>
          </a:xfrm>
          <a:prstGeom prst="rect">
            <a:avLst/>
          </a:prstGeom>
          <a:noFill/>
        </p:spPr>
        <p:txBody>
          <a:bodyPr wrap="square" lIns="180975" tIns="0" rIns="0" bIns="0" anchor="t">
            <a:spAutoFit/>
          </a:bodyPr>
          <a:lstStyle/>
          <a:p>
            <a:pPr algn="ctr"/>
            <a:r>
              <a:rPr sz="1275" b="1" i="0" u="none">
                <a:solidFill>
                  <a:srgbClr val="38BDF8"/>
                </a:solidFill>
                <a:latin typeface="Plus Jakarta Sans"/>
              </a:rPr>
              <a:t>FRONTEND UI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96505" y="1569839"/>
            <a:ext cx="6198840" cy="205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20"/>
              </a:lnSpc>
            </a:pPr>
            <a:r>
              <a:rPr sz="1012" b="0" i="0" u="none">
                <a:solidFill>
                  <a:srgbClr val="9CA3AF"/>
                </a:solidFill>
                <a:latin typeface="Plus Jakarta Sans"/>
              </a:rPr>
              <a:t>Responsive Vanilla JS/CSS • Flexbox/Grid Resizable Layout • Markdown Parser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34000" y="2166044"/>
            <a:ext cx="133350" cy="1714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938712" y="2699444"/>
            <a:ext cx="2314575" cy="209550"/>
          </a:xfrm>
          <a:prstGeom prst="rect">
            <a:avLst/>
          </a:prstGeom>
          <a:noFill/>
        </p:spPr>
        <p:txBody>
          <a:bodyPr wrap="square" lIns="161925" tIns="0" rIns="0" bIns="0" anchor="t">
            <a:spAutoFit/>
          </a:bodyPr>
          <a:lstStyle/>
          <a:p>
            <a:pPr algn="ctr"/>
            <a:r>
              <a:rPr sz="1275" b="1" i="0" u="none">
                <a:solidFill>
                  <a:srgbClr val="C084FC"/>
                </a:solidFill>
                <a:latin typeface="Plus Jakarta Sans"/>
              </a:rPr>
              <a:t>FASTAPI BACKEND ENGINE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40334" y="2947094"/>
            <a:ext cx="7311330" cy="205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20"/>
              </a:lnSpc>
            </a:pPr>
            <a:r>
              <a:rPr sz="1012" b="0" i="0" u="none">
                <a:solidFill>
                  <a:srgbClr val="9CA3AF"/>
                </a:solidFill>
                <a:latin typeface="Plus Jakarta Sans"/>
              </a:rPr>
              <a:t>Python Async REST Server • Endpoint Router • State Controller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10275" y="3543300"/>
            <a:ext cx="171450" cy="1714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29325" y="5231010"/>
            <a:ext cx="133350" cy="1714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138737" y="5773935"/>
            <a:ext cx="1914525" cy="180975"/>
          </a:xfrm>
          <a:prstGeom prst="rect">
            <a:avLst/>
          </a:prstGeom>
          <a:noFill/>
        </p:spPr>
        <p:txBody>
          <a:bodyPr wrap="square" lIns="123825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34D399"/>
                </a:solidFill>
                <a:latin typeface="Plus Jakarta Sans"/>
              </a:rPr>
              <a:t>POSTGRESQL DATABASE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52825" y="5983485"/>
            <a:ext cx="508635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00"/>
              </a:lnSpc>
            </a:pPr>
            <a:r>
              <a:rPr sz="937" b="0" i="0" u="none">
                <a:solidFill>
                  <a:srgbClr val="9CA3AF"/>
                </a:solidFill>
                <a:latin typeface="Plus Jakarta Sans"/>
              </a:rPr>
              <a:t>Lưu trữ Slide Context, Ngân hàng Quiz, Elo Rating &amp; Lịch sử Học tập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448151" y="1350764"/>
            <a:ext cx="180975" cy="16192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938712" y="2728019"/>
            <a:ext cx="161925" cy="161925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318319" y="4114800"/>
            <a:ext cx="4686523" cy="200025"/>
          </a:xfrm>
          <a:prstGeom prst="rect">
            <a:avLst/>
          </a:prstGeom>
          <a:noFill/>
        </p:spPr>
        <p:txBody>
          <a:bodyPr wrap="square" lIns="11430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8BDF8"/>
                </a:solidFill>
                <a:latin typeface="Fira Code"/>
              </a:rPr>
              <a:t>ELO RATING ENGINE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18319" y="4391025"/>
            <a:ext cx="4463355" cy="411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sz="1012" b="0" i="0" u="none">
                <a:solidFill>
                  <a:srgbClr val="9CA3AF"/>
                </a:solidFill>
                <a:latin typeface="Plus Jakarta Sans"/>
              </a:rPr>
              <a:t>Thuật toán toán thuần: Tính toán kỳ vọng P và cập nhật điểm cực nhanh </a:t>
            </a:r>
            <a:r>
              <a:rPr sz="1012" b="1" i="0" u="none">
                <a:solidFill>
                  <a:srgbClr val="F3F4F6"/>
                </a:solidFill>
                <a:latin typeface="Plus Jakarta Sans"/>
              </a:rPr>
              <a:t>(&lt; 50ms)</a:t>
            </a:r>
            <a:r>
              <a:rPr sz="1012" b="0" i="0" u="none">
                <a:solidFill>
                  <a:srgbClr val="9CA3AF"/>
                </a:solidFill>
                <a:latin typeface="Plus Jakarta Sans"/>
              </a:rPr>
              <a:t>, 0 token cost.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38900" y="4114800"/>
            <a:ext cx="4686523" cy="200025"/>
          </a:xfrm>
          <a:prstGeom prst="rect">
            <a:avLst/>
          </a:prstGeom>
          <a:noFill/>
        </p:spPr>
        <p:txBody>
          <a:bodyPr wrap="square" lIns="15240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8BDF8"/>
                </a:solidFill>
                <a:latin typeface="Fira Code"/>
              </a:rPr>
              <a:t>LANGGRAPH RAG WORKFLOW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38900" y="4391025"/>
            <a:ext cx="4463355" cy="411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sz="1012" b="0" i="0" u="none">
                <a:solidFill>
                  <a:srgbClr val="9CA3AF"/>
                </a:solidFill>
                <a:latin typeface="Plus Jakarta Sans"/>
              </a:rPr>
              <a:t>Graph multi-node truy xuất Slide Context kết hợp Gemini Flash / FPT AI phục vụ trả lời chuyên sâu.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138737" y="5802510"/>
            <a:ext cx="123825" cy="142875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318319" y="4133850"/>
            <a:ext cx="114300" cy="15240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38900" y="4133850"/>
            <a:ext cx="152400" cy="1524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050875" y="457200"/>
            <a:ext cx="11138110" cy="40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F9FAFB"/>
                </a:solidFill>
                <a:latin typeface="Plus Jakarta Sans"/>
              </a:rPr>
              <a:t>Kiến trúc Công nghệ Hybrid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21180" y="6486525"/>
            <a:ext cx="1737419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4B5563"/>
                </a:solidFill>
                <a:latin typeface="Plus Jakarta Sans SemiBold"/>
              </a:rPr>
              <a:t>VLEARN — DEMO DAY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1817637"/>
            <a:ext cx="5391150" cy="115996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3168104"/>
            <a:ext cx="5391150" cy="1159966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" y="4518570"/>
            <a:ext cx="5391150" cy="1159966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625" y="2197596"/>
            <a:ext cx="1143000" cy="4000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3400" y="500062"/>
            <a:ext cx="317450" cy="3238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79331" y="542925"/>
            <a:ext cx="725834" cy="23812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09625" y="3548062"/>
            <a:ext cx="11430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150"/>
              </a:lnSpc>
            </a:pPr>
            <a:r>
              <a:rPr sz="3150" b="0" i="0" u="none">
                <a:solidFill>
                  <a:srgbClr val="34D399"/>
                </a:solidFill>
                <a:latin typeface="Fira Code ExtraBold"/>
              </a:rPr>
              <a:t>-60%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625" y="4898528"/>
            <a:ext cx="11430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150"/>
              </a:lnSpc>
            </a:pPr>
            <a:r>
              <a:rPr sz="3150" b="0" i="0" u="none">
                <a:solidFill>
                  <a:srgbClr val="C084FC"/>
                </a:solidFill>
                <a:latin typeface="Fira Code ExtraBold"/>
              </a:rPr>
              <a:t>100%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81225" y="2055762"/>
            <a:ext cx="3640455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3F4F6"/>
                </a:solidFill>
                <a:latin typeface="Plus Jakarta Sans"/>
              </a:rPr>
              <a:t>Tốc độ xử lý siêu tốc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81225" y="2312937"/>
            <a:ext cx="3467100" cy="4265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9CA3AF"/>
                </a:solidFill>
                <a:latin typeface="Plus Jakarta Sans"/>
              </a:rPr>
              <a:t>Sinh quiz và cập nhật chỉ số Elo tức thì, không gây hoãn hay tạo trễ UX.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81225" y="3406229"/>
            <a:ext cx="3640455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3F4F6"/>
                </a:solidFill>
                <a:latin typeface="Plus Jakarta Sans"/>
              </a:rPr>
              <a:t>Giảm Cognitive Load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81225" y="3663404"/>
            <a:ext cx="3467100" cy="4265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9CA3AF"/>
                </a:solidFill>
                <a:latin typeface="Plus Jakarta Sans"/>
              </a:rPr>
              <a:t>Tối ưu hóa tải nhận thức nhờ việc kết hợp Adaptive Quiz và AI Tutor đa slide.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81225" y="4756695"/>
            <a:ext cx="3640455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3F4F6"/>
                </a:solidFill>
                <a:latin typeface="Plus Jakarta Sans"/>
              </a:rPr>
              <a:t>Minh bạch sự tiến bộ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81225" y="5013870"/>
            <a:ext cx="3467100" cy="4265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9CA3AF"/>
                </a:solidFill>
                <a:latin typeface="Plus Jakarta Sans"/>
              </a:rPr>
              <a:t>Học viên nhận biết rõ ràng sự nâng cao năng lực thực sự qua từng vòng lặp.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5150" y="457200"/>
            <a:ext cx="11226849" cy="40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F9FAFB"/>
                </a:solidFill>
                <a:latin typeface="Plus Jakarta Sans"/>
              </a:rPr>
              <a:t>Kết quả đạt được &amp; Demo thực tế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21180" y="6486525"/>
            <a:ext cx="1737419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4B5563"/>
                </a:solidFill>
                <a:latin typeface="Plus Jakarta Sans SemiBold"/>
              </a:rPr>
              <a:t>VLEARN — DEMO DAY 2026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9DF89C86-9B8D-8263-FAFB-7103B690B4B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58847" y="2274837"/>
            <a:ext cx="4957325" cy="26992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2797671"/>
            <a:ext cx="3555950" cy="209133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7950" y="2797671"/>
            <a:ext cx="3555950" cy="209133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02500" y="2797671"/>
            <a:ext cx="3556099" cy="209133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500062"/>
            <a:ext cx="317450" cy="3238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78300" y="542925"/>
            <a:ext cx="918269" cy="238125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42925" y="3824287"/>
            <a:ext cx="3536899" cy="381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1525" y="3111996"/>
            <a:ext cx="676275" cy="2476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1525" y="3512046"/>
            <a:ext cx="3233685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9FAFB"/>
                </a:solidFill>
                <a:latin typeface="Plus Jakarta Sans"/>
              </a:rPr>
              <a:t>🎙️ AI Voice Tutor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1525" y="3912096"/>
            <a:ext cx="3079700" cy="6625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087" b="0" i="0" u="none">
                <a:solidFill>
                  <a:srgbClr val="9CA3AF"/>
                </a:solidFill>
                <a:latin typeface="Plus Jakarta Sans"/>
              </a:rPr>
              <a:t>Tích hợp AI phân tích giọng nói (Voice Tutor) hỗ trợ học tập và luyện tập giao tiếp qua hội thoại trực tiếp tương tác 2 chiều.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7475" y="3824287"/>
            <a:ext cx="3536899" cy="381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56075" y="3111996"/>
            <a:ext cx="676275" cy="2476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556075" y="3512046"/>
            <a:ext cx="3233685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9FAFB"/>
                </a:solidFill>
                <a:latin typeface="Plus Jakarta Sans"/>
              </a:rPr>
              <a:t>✍️ Short Answer Grading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6075" y="3912096"/>
            <a:ext cx="3079700" cy="6625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087" b="0" i="0" u="none">
                <a:solidFill>
                  <a:srgbClr val="9CA3AF"/>
                </a:solidFill>
                <a:latin typeface="Plus Jakarta Sans"/>
              </a:rPr>
              <a:t>Mở rộng ngân hàng câu hỏi thích ứng sang dạng Tự luận ngắn, áp dụng LLM chấm điểm &amp; phân tích phản hồi ngữ nghĩa chuyên sâu.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12024" y="3824287"/>
            <a:ext cx="3537051" cy="381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40625" y="3111996"/>
            <a:ext cx="676275" cy="2476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340625" y="3512046"/>
            <a:ext cx="3233841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9FAFB"/>
                </a:solidFill>
                <a:latin typeface="Plus Jakarta Sans"/>
              </a:rPr>
              <a:t>🔌 LTI Plugin Integration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40625" y="3912096"/>
            <a:ext cx="3079849" cy="6625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087" b="0" i="0" u="none">
                <a:solidFill>
                  <a:srgbClr val="9CA3AF"/>
                </a:solidFill>
                <a:latin typeface="Plus Jakarta Sans"/>
              </a:rPr>
              <a:t>Đóng gói tiêu chuẩn Plugin LTI cho phép tích hợp mượt mà với các hệ thống quản lý học tập phổ biến như Canvas, Moodle, Coursera.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5150" y="457200"/>
            <a:ext cx="11226849" cy="40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F9FAFB"/>
                </a:solidFill>
                <a:latin typeface="Plus Jakarta Sans"/>
              </a:rPr>
              <a:t>Hướng phát triển tương lai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21180" y="6486525"/>
            <a:ext cx="1737419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4B5563"/>
                </a:solidFill>
                <a:latin typeface="Plus Jakarta Sans SemiBold"/>
              </a:rPr>
              <a:t>VLEARN — DEMO DAY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271</TotalTime>
  <Words>807</Words>
  <Application>Microsoft Office PowerPoint</Application>
  <PresentationFormat>Widescreen</PresentationFormat>
  <Paragraphs>64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Arial</vt:lpstr>
      <vt:lpstr>Calibri</vt:lpstr>
      <vt:lpstr>Fira Code</vt:lpstr>
      <vt:lpstr>Fira Code ExtraBold</vt:lpstr>
      <vt:lpstr>Plus Jakarta Sans</vt:lpstr>
      <vt:lpstr>Plus Jakarta Sans ExtraBold</vt:lpstr>
      <vt:lpstr>Plus Jakarta 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Lương Đức Thắng</cp:lastModifiedBy>
  <cp:revision>3</cp:revision>
  <dcterms:created xsi:type="dcterms:W3CDTF">2013-01-27T09:14:16Z</dcterms:created>
  <dcterms:modified xsi:type="dcterms:W3CDTF">2026-07-31T11:18:40Z</dcterms:modified>
  <cp:category/>
</cp:coreProperties>
</file>